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4" r:id="rId3"/>
    <p:sldId id="286" r:id="rId4"/>
    <p:sldId id="303" r:id="rId5"/>
    <p:sldId id="311" r:id="rId6"/>
    <p:sldId id="260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3" r:id="rId15"/>
    <p:sldId id="314" r:id="rId16"/>
    <p:sldId id="315" r:id="rId17"/>
    <p:sldId id="317" r:id="rId18"/>
    <p:sldId id="316" r:id="rId19"/>
    <p:sldId id="318" r:id="rId20"/>
    <p:sldId id="320" r:id="rId21"/>
    <p:sldId id="321" r:id="rId22"/>
  </p:sldIdLst>
  <p:sldSz cx="18288000" cy="10287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Canva Sans" panose="020B0604020202020204" charset="0"/>
      <p:regular r:id="rId24"/>
    </p:embeddedFont>
    <p:embeddedFont>
      <p:font typeface="Canva Sans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>
        <p:scale>
          <a:sx n="50" d="100"/>
          <a:sy n="50" d="100"/>
        </p:scale>
        <p:origin x="725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4F0CF">
                <a:alpha val="100000"/>
              </a:srgbClr>
            </a:gs>
            <a:gs pos="100000">
              <a:srgbClr val="FADCF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800" y="0"/>
            <a:ext cx="5471635" cy="1994321"/>
          </a:xfrm>
          <a:custGeom>
            <a:avLst/>
            <a:gdLst/>
            <a:ahLst/>
            <a:cxnLst/>
            <a:rect l="l" t="t" r="r" b="b"/>
            <a:pathLst>
              <a:path w="5471635" h="1994321">
                <a:moveTo>
                  <a:pt x="0" y="0"/>
                </a:moveTo>
                <a:lnTo>
                  <a:pt x="5471635" y="0"/>
                </a:lnTo>
                <a:lnTo>
                  <a:pt x="5471635" y="1994321"/>
                </a:lnTo>
                <a:lnTo>
                  <a:pt x="0" y="1994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98" t="-44852" b="-6178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63200" y="571500"/>
            <a:ext cx="1447800" cy="1371600"/>
          </a:xfrm>
          <a:custGeom>
            <a:avLst/>
            <a:gdLst/>
            <a:ahLst/>
            <a:cxnLst/>
            <a:rect l="l" t="t" r="r" b="b"/>
            <a:pathLst>
              <a:path w="2061458" h="2061458">
                <a:moveTo>
                  <a:pt x="0" y="0"/>
                </a:moveTo>
                <a:lnTo>
                  <a:pt x="2061458" y="0"/>
                </a:lnTo>
                <a:lnTo>
                  <a:pt x="2061458" y="2061459"/>
                </a:lnTo>
                <a:lnTo>
                  <a:pt x="0" y="2061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-152400" y="3924300"/>
            <a:ext cx="9067800" cy="6996933"/>
          </a:xfrm>
          <a:custGeom>
            <a:avLst/>
            <a:gdLst/>
            <a:ahLst/>
            <a:cxnLst/>
            <a:rect l="l" t="t" r="r" b="b"/>
            <a:pathLst>
              <a:path w="12702081" h="8468054">
                <a:moveTo>
                  <a:pt x="0" y="0"/>
                </a:moveTo>
                <a:lnTo>
                  <a:pt x="12702080" y="0"/>
                </a:lnTo>
                <a:lnTo>
                  <a:pt x="12702080" y="8468054"/>
                </a:lnTo>
                <a:lnTo>
                  <a:pt x="0" y="84680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134600" y="4914900"/>
            <a:ext cx="5715000" cy="167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 Marketing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782800" y="8953500"/>
            <a:ext cx="49530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Meenakshi Mali</a:t>
            </a:r>
          </a:p>
          <a:p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BCA - 3rd Semester</a:t>
            </a:r>
          </a:p>
          <a:p>
            <a:r>
              <a:rPr lang="en-US" sz="2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Session 2025-2028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6A7DA-D75F-E6DE-64A7-8E8D28B295B3}"/>
              </a:ext>
            </a:extLst>
          </p:cNvPr>
          <p:cNvSpPr txBox="1"/>
          <p:nvPr/>
        </p:nvSpPr>
        <p:spPr>
          <a:xfrm>
            <a:off x="10287000" y="2705100"/>
            <a:ext cx="63246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dirty="0"/>
              <a:t>DIGITAL MARKETING ASSIGNMENT</a:t>
            </a:r>
            <a:endParaRPr lang="en-IN" sz="55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DBDB2-E3FA-4F85-3FEF-B79BE861BEFE}"/>
              </a:ext>
            </a:extLst>
          </p:cNvPr>
          <p:cNvCxnSpPr/>
          <p:nvPr/>
        </p:nvCxnSpPr>
        <p:spPr>
          <a:xfrm>
            <a:off x="10439400" y="4686300"/>
            <a:ext cx="579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ABA798-476B-5BBF-20E4-840375B69484}"/>
              </a:ext>
            </a:extLst>
          </p:cNvPr>
          <p:cNvCxnSpPr>
            <a:cxnSpLocks/>
          </p:cNvCxnSpPr>
          <p:nvPr/>
        </p:nvCxnSpPr>
        <p:spPr>
          <a:xfrm>
            <a:off x="12420600" y="647700"/>
            <a:ext cx="0" cy="1295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1154160-FF62-738B-170B-737B8C16ED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495300"/>
            <a:ext cx="16764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B7A8797E-4CDE-4867-DBDA-1250F4B6D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0005" y="1403957"/>
            <a:ext cx="11536680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b="1" dirty="0">
                <a:solidFill>
                  <a:srgbClr val="000000"/>
                </a:solidFill>
                <a:ea typeface="Calibri" panose="020F0502020204030204" pitchFamily="34" charset="0"/>
              </a:rPr>
              <a:t>Assignment Folio of</a:t>
            </a:r>
            <a:endParaRPr lang="en-US" altLang="en-US" sz="2400" dirty="0"/>
          </a:p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Digital Marketing</a:t>
            </a:r>
            <a:endParaRPr lang="en-US" altLang="en-US" sz="2400" dirty="0"/>
          </a:p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b="1" dirty="0">
                <a:solidFill>
                  <a:srgbClr val="000000"/>
                </a:solidFill>
                <a:ea typeface="Calibri" panose="020F0502020204030204" pitchFamily="34" charset="0"/>
              </a:rPr>
              <a:t>Submitted to </a:t>
            </a:r>
            <a:endParaRPr lang="en-US" altLang="en-US" sz="2400" dirty="0"/>
          </a:p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Calibri" panose="020F0502020204030204" pitchFamily="34" charset="0"/>
              </a:rPr>
              <a:t>Dezyne</a:t>
            </a:r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 École College </a:t>
            </a:r>
            <a:endParaRPr lang="en-US" altLang="en-US" sz="2400" dirty="0"/>
          </a:p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Toward Digital Marketing</a:t>
            </a:r>
            <a:endParaRPr lang="en-US" altLang="en-US" sz="2400" dirty="0"/>
          </a:p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b="1" dirty="0">
                <a:solidFill>
                  <a:srgbClr val="000000"/>
                </a:solidFill>
                <a:ea typeface="Calibri" panose="020F0502020204030204" pitchFamily="34" charset="0"/>
              </a:rPr>
              <a:t>By</a:t>
            </a:r>
            <a:endParaRPr lang="en-US" altLang="en-US" sz="2400" dirty="0"/>
          </a:p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BCA </a:t>
            </a:r>
            <a:endParaRPr lang="en-US" altLang="en-US" sz="2400" dirty="0"/>
          </a:p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3</a:t>
            </a:r>
            <a:r>
              <a:rPr lang="en-US" altLang="en-US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rd</a:t>
            </a:r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  Semester </a:t>
            </a:r>
            <a:endParaRPr lang="en-US" altLang="en-US" sz="2400" dirty="0"/>
          </a:p>
          <a:p>
            <a:pPr algn="ctr" defTabSz="1371600">
              <a:lnSpc>
                <a:spcPct val="150000"/>
              </a:lnSpc>
              <a:tabLst>
                <a:tab pos="19100007" algn="r"/>
              </a:tabLst>
            </a:pPr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Meenakshi Mali</a:t>
            </a:r>
            <a:endParaRPr lang="en-US" altLang="en-US" sz="2400" dirty="0"/>
          </a:p>
          <a:p>
            <a:pPr algn="ctr" defTabSz="1371600">
              <a:tabLst>
                <a:tab pos="19100007" algn="r"/>
              </a:tabLst>
            </a:pPr>
            <a:endParaRPr lang="en-US" altLang="en-US" sz="2400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4B9F9CF-4224-A692-32B5-4C85DDC83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951" y="8032171"/>
            <a:ext cx="7332785" cy="170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371600"/>
            <a:r>
              <a:rPr lang="en-US" altLang="en-US" sz="2400" dirty="0" err="1">
                <a:solidFill>
                  <a:srgbClr val="000000"/>
                </a:solidFill>
                <a:ea typeface="Calibri" panose="020F0502020204030204" pitchFamily="34" charset="0"/>
              </a:rPr>
              <a:t>Dezyne</a:t>
            </a:r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 École College </a:t>
            </a:r>
            <a:endParaRPr lang="en-US" altLang="en-US" sz="2400" dirty="0"/>
          </a:p>
          <a:p>
            <a:pPr algn="ctr" defTabSz="1371600"/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106/10, Civil Lines, Ajmer</a:t>
            </a:r>
          </a:p>
          <a:p>
            <a:pPr algn="ctr" defTabSz="1371600"/>
            <a:r>
              <a:rPr lang="en-US" altLang="en-US" sz="24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lang="en-US" altLang="en-US" sz="2400" dirty="0">
                <a:solidFill>
                  <a:srgbClr val="0563C1"/>
                </a:solidFill>
                <a:ea typeface="Calibri" panose="020F0502020204030204" pitchFamily="34" charset="0"/>
                <a:hlinkClick r:id="rId2"/>
              </a:rPr>
              <a:t>www.dezyneecole.com</a:t>
            </a:r>
            <a:endParaRPr lang="en-US" altLang="en-US" sz="2400" dirty="0">
              <a:solidFill>
                <a:srgbClr val="0563C1"/>
              </a:solidFill>
              <a:ea typeface="Calibri" panose="020F0502020204030204" pitchFamily="34" charset="0"/>
            </a:endParaRPr>
          </a:p>
          <a:p>
            <a:pPr algn="ctr" defTabSz="1371600">
              <a:lnSpc>
                <a:spcPct val="150000"/>
              </a:lnSpc>
            </a:pPr>
            <a:r>
              <a:rPr lang="en-US" altLang="en-US" sz="2250" dirty="0">
                <a:ea typeface="Calibri" panose="020F0502020204030204" pitchFamily="34" charset="0"/>
              </a:rPr>
              <a:t>2026-2028</a:t>
            </a:r>
            <a:endParaRPr lang="en-US" altLang="en-US" sz="225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6EFBB8-C1F4-BDE9-52A6-8F58DF04CCA0}"/>
              </a:ext>
            </a:extLst>
          </p:cNvPr>
          <p:cNvCxnSpPr/>
          <p:nvPr/>
        </p:nvCxnSpPr>
        <p:spPr>
          <a:xfrm>
            <a:off x="18882360" y="5486400"/>
            <a:ext cx="1371600" cy="1371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969D57-9748-F831-0705-D95471CA9646}"/>
              </a:ext>
            </a:extLst>
          </p:cNvPr>
          <p:cNvCxnSpPr>
            <a:cxnSpLocks/>
          </p:cNvCxnSpPr>
          <p:nvPr/>
        </p:nvCxnSpPr>
        <p:spPr>
          <a:xfrm>
            <a:off x="442453" y="917825"/>
            <a:ext cx="1712287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D36E1A-E02B-6D8F-42DA-1D8AABB53209}"/>
              </a:ext>
            </a:extLst>
          </p:cNvPr>
          <p:cNvSpPr txBox="1"/>
          <p:nvPr/>
        </p:nvSpPr>
        <p:spPr>
          <a:xfrm>
            <a:off x="13684201" y="205187"/>
            <a:ext cx="4220309" cy="51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9100007" algn="r"/>
              </a:tabLst>
            </a:pPr>
            <a:r>
              <a:rPr lang="en-US" altLang="en-US" sz="21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21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40EFA-16E5-4749-56D8-B1A5F1C3CB4A}"/>
              </a:ext>
            </a:extLst>
          </p:cNvPr>
          <p:cNvSpPr txBox="1"/>
          <p:nvPr/>
        </p:nvSpPr>
        <p:spPr>
          <a:xfrm>
            <a:off x="281354" y="308157"/>
            <a:ext cx="42203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1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2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476C3-FD6B-BBBB-3FE7-C097D12DD2F5}"/>
              </a:ext>
            </a:extLst>
          </p:cNvPr>
          <p:cNvSpPr txBox="1"/>
          <p:nvPr/>
        </p:nvSpPr>
        <p:spPr>
          <a:xfrm>
            <a:off x="281353" y="1011542"/>
            <a:ext cx="42203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1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2100" dirty="0">
              <a:latin typeface="Arial" panose="020B0604020202020204" pitchFamily="34" charset="0"/>
            </a:endParaRPr>
          </a:p>
          <a:p>
            <a:endParaRPr lang="en-IN" sz="2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0D149-F628-044E-0039-63A785F1EABB}"/>
              </a:ext>
            </a:extLst>
          </p:cNvPr>
          <p:cNvSpPr txBox="1"/>
          <p:nvPr/>
        </p:nvSpPr>
        <p:spPr>
          <a:xfrm>
            <a:off x="7505341" y="6524723"/>
            <a:ext cx="2553059" cy="1438177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DBF45E-BAD1-DF12-8E84-05DF188220BF}"/>
              </a:ext>
            </a:extLst>
          </p:cNvPr>
          <p:cNvCxnSpPr>
            <a:cxnSpLocks/>
          </p:cNvCxnSpPr>
          <p:nvPr/>
        </p:nvCxnSpPr>
        <p:spPr>
          <a:xfrm>
            <a:off x="582562" y="9788979"/>
            <a:ext cx="1712287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7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7859-BB80-F4CE-5A29-35A1DC97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56C41E-846E-8A10-3084-5ABB7CED1123}"/>
              </a:ext>
            </a:extLst>
          </p:cNvPr>
          <p:cNvCxnSpPr/>
          <p:nvPr/>
        </p:nvCxnSpPr>
        <p:spPr>
          <a:xfrm>
            <a:off x="18882360" y="5486400"/>
            <a:ext cx="1371600" cy="1371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71B645-F9D8-B629-C99B-ED54968946C8}"/>
              </a:ext>
            </a:extLst>
          </p:cNvPr>
          <p:cNvCxnSpPr>
            <a:cxnSpLocks/>
          </p:cNvCxnSpPr>
          <p:nvPr/>
        </p:nvCxnSpPr>
        <p:spPr>
          <a:xfrm>
            <a:off x="1102613" y="1103874"/>
            <a:ext cx="1551530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9A2AAC-BCC4-A1AA-C9E1-B6245CC48FC8}"/>
              </a:ext>
            </a:extLst>
          </p:cNvPr>
          <p:cNvSpPr txBox="1"/>
          <p:nvPr/>
        </p:nvSpPr>
        <p:spPr>
          <a:xfrm>
            <a:off x="14662052" y="423416"/>
            <a:ext cx="42203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Case Study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D653B6-E739-25B8-9B01-626F9B7F5EBD}"/>
              </a:ext>
            </a:extLst>
          </p:cNvPr>
          <p:cNvSpPr txBox="1"/>
          <p:nvPr/>
        </p:nvSpPr>
        <p:spPr>
          <a:xfrm>
            <a:off x="949567" y="521349"/>
            <a:ext cx="42203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1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2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4682B5-B501-ED76-DE5D-9A6E57E2A01B}"/>
              </a:ext>
            </a:extLst>
          </p:cNvPr>
          <p:cNvSpPr txBox="1"/>
          <p:nvPr/>
        </p:nvSpPr>
        <p:spPr>
          <a:xfrm>
            <a:off x="949567" y="1127953"/>
            <a:ext cx="422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A7CE1-D839-5E49-4BFF-A12CBD7D9A87}"/>
              </a:ext>
            </a:extLst>
          </p:cNvPr>
          <p:cNvSpPr txBox="1"/>
          <p:nvPr/>
        </p:nvSpPr>
        <p:spPr>
          <a:xfrm>
            <a:off x="914402" y="1723284"/>
            <a:ext cx="16242630" cy="6790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50" dirty="0"/>
              <a:t>We take this opportunity to express our sincere gratitude to </a:t>
            </a:r>
            <a:r>
              <a:rPr lang="en-IN" sz="2250" dirty="0" err="1"/>
              <a:t>Dezyne</a:t>
            </a:r>
            <a:r>
              <a:rPr lang="en-IN" sz="2250" dirty="0"/>
              <a:t> École College for providing us with the knowledge, resources, and guidance essential to the successful completion of this project.</a:t>
            </a:r>
          </a:p>
          <a:p>
            <a:pPr>
              <a:lnSpc>
                <a:spcPct val="150000"/>
              </a:lnSpc>
            </a:pPr>
            <a:r>
              <a:rPr lang="en-IN" sz="2250" dirty="0"/>
              <a:t>Our deepest thanks to our respected Principal, </a:t>
            </a:r>
            <a:r>
              <a:rPr lang="en-IN" sz="2250" b="1" dirty="0"/>
              <a:t>Dr. Vinita Mathur</a:t>
            </a:r>
            <a:r>
              <a:rPr lang="en-IN" sz="2250" dirty="0"/>
              <a:t>, for her visionary leadership and continuous encouragement. Her commitment to academic excellence and student growth has been a constant source of motivation and pride.</a:t>
            </a:r>
          </a:p>
          <a:p>
            <a:pPr>
              <a:lnSpc>
                <a:spcPct val="150000"/>
              </a:lnSpc>
            </a:pPr>
            <a:r>
              <a:rPr lang="en-IN" sz="2250" dirty="0"/>
              <a:t>We are equally thankful to all our faculty members for their consistent support, expert advice, and valuable insights that shaped our learning and helped us achieve this milestone.</a:t>
            </a:r>
          </a:p>
          <a:p>
            <a:pPr>
              <a:lnSpc>
                <a:spcPct val="150000"/>
              </a:lnSpc>
            </a:pPr>
            <a:r>
              <a:rPr lang="en-IN" sz="2250" dirty="0"/>
              <a:t>Lastly, we extend heartfelt thanks to everyone who directly or indirectly contributed to the success of this project.</a:t>
            </a:r>
          </a:p>
          <a:p>
            <a:pPr>
              <a:lnSpc>
                <a:spcPct val="150000"/>
              </a:lnSpc>
            </a:pPr>
            <a:r>
              <a:rPr lang="en-IN" sz="2250" dirty="0"/>
              <a:t>We are proud to be part of </a:t>
            </a:r>
            <a:r>
              <a:rPr lang="en-IN" sz="2250" dirty="0" err="1"/>
              <a:t>Dezyne</a:t>
            </a:r>
            <a:r>
              <a:rPr lang="en-IN" sz="2250" dirty="0"/>
              <a:t> École College, an institution that truly nurtures professionalism, innovation, and purpose.</a:t>
            </a:r>
          </a:p>
          <a:p>
            <a:pPr>
              <a:lnSpc>
                <a:spcPct val="150000"/>
              </a:lnSpc>
            </a:pPr>
            <a:endParaRPr lang="en-IN" sz="2250" b="1" dirty="0"/>
          </a:p>
          <a:p>
            <a:pPr>
              <a:lnSpc>
                <a:spcPct val="150000"/>
              </a:lnSpc>
            </a:pPr>
            <a:r>
              <a:rPr lang="en-IN" sz="2250" dirty="0"/>
              <a:t>With sincere appreciation,</a:t>
            </a:r>
          </a:p>
          <a:p>
            <a:pPr>
              <a:lnSpc>
                <a:spcPct val="150000"/>
              </a:lnSpc>
            </a:pPr>
            <a:r>
              <a:rPr lang="en-IN" sz="2250" dirty="0"/>
              <a:t>Meenakshi Mali</a:t>
            </a:r>
            <a:br>
              <a:rPr lang="en-IN" sz="2250" dirty="0"/>
            </a:br>
            <a:r>
              <a:rPr lang="en-IN" sz="2250" dirty="0"/>
              <a:t>Department of BCA</a:t>
            </a:r>
            <a:br>
              <a:rPr lang="en-IN" sz="2250" dirty="0"/>
            </a:br>
            <a:r>
              <a:rPr lang="en-IN" sz="2250" dirty="0" err="1"/>
              <a:t>Dezyne</a:t>
            </a:r>
            <a:r>
              <a:rPr lang="en-IN" sz="2250" dirty="0"/>
              <a:t> École College, Ajmer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FC9F04-B29B-9EB1-47C2-3301A9387ECD}"/>
              </a:ext>
            </a:extLst>
          </p:cNvPr>
          <p:cNvCxnSpPr>
            <a:cxnSpLocks/>
          </p:cNvCxnSpPr>
          <p:nvPr/>
        </p:nvCxnSpPr>
        <p:spPr>
          <a:xfrm>
            <a:off x="1256901" y="9473583"/>
            <a:ext cx="1551530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6BBC-BFEB-C87E-BB21-CE53BF2F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AFD626-1B38-5AA2-9B33-233961AE8221}"/>
              </a:ext>
            </a:extLst>
          </p:cNvPr>
          <p:cNvCxnSpPr/>
          <p:nvPr/>
        </p:nvCxnSpPr>
        <p:spPr>
          <a:xfrm>
            <a:off x="18882360" y="5486400"/>
            <a:ext cx="1371600" cy="1371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D061FB-DE51-6370-BA8B-8FC242203AE4}"/>
              </a:ext>
            </a:extLst>
          </p:cNvPr>
          <p:cNvCxnSpPr>
            <a:cxnSpLocks/>
          </p:cNvCxnSpPr>
          <p:nvPr/>
        </p:nvCxnSpPr>
        <p:spPr>
          <a:xfrm>
            <a:off x="442453" y="917825"/>
            <a:ext cx="1712287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BC501A-E9C7-4590-95A6-10A7B1127404}"/>
              </a:ext>
            </a:extLst>
          </p:cNvPr>
          <p:cNvSpPr txBox="1"/>
          <p:nvPr/>
        </p:nvSpPr>
        <p:spPr>
          <a:xfrm>
            <a:off x="13684201" y="205187"/>
            <a:ext cx="4220309" cy="51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9100007" algn="r"/>
              </a:tabLst>
            </a:pPr>
            <a:r>
              <a:rPr lang="en-US" altLang="en-US" sz="21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Case Study</a:t>
            </a:r>
            <a:endParaRPr lang="en-US" altLang="en-US" sz="21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1D964-6BDB-9ED3-8D8D-D7DD93BAB971}"/>
              </a:ext>
            </a:extLst>
          </p:cNvPr>
          <p:cNvSpPr txBox="1"/>
          <p:nvPr/>
        </p:nvSpPr>
        <p:spPr>
          <a:xfrm>
            <a:off x="281354" y="308157"/>
            <a:ext cx="42203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1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2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2DCFE-3839-50CB-7283-DEA7691D2000}"/>
              </a:ext>
            </a:extLst>
          </p:cNvPr>
          <p:cNvSpPr txBox="1"/>
          <p:nvPr/>
        </p:nvSpPr>
        <p:spPr>
          <a:xfrm>
            <a:off x="281353" y="1011542"/>
            <a:ext cx="42203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1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2100" dirty="0">
              <a:latin typeface="Arial" panose="020B0604020202020204" pitchFamily="34" charset="0"/>
            </a:endParaRPr>
          </a:p>
          <a:p>
            <a:endParaRPr lang="en-IN" sz="21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CBA1B5-FE36-77B1-935C-91279471FC01}"/>
              </a:ext>
            </a:extLst>
          </p:cNvPr>
          <p:cNvCxnSpPr>
            <a:cxnSpLocks/>
          </p:cNvCxnSpPr>
          <p:nvPr/>
        </p:nvCxnSpPr>
        <p:spPr>
          <a:xfrm>
            <a:off x="582562" y="9788979"/>
            <a:ext cx="1712287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9510F4-96E9-29A4-4F42-7017716DF577}"/>
              </a:ext>
            </a:extLst>
          </p:cNvPr>
          <p:cNvSpPr txBox="1"/>
          <p:nvPr/>
        </p:nvSpPr>
        <p:spPr>
          <a:xfrm>
            <a:off x="281353" y="1750263"/>
            <a:ext cx="17283977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Objective: </a:t>
            </a:r>
          </a:p>
          <a:p>
            <a:pPr algn="just"/>
            <a:r>
              <a:rPr lang="en-US" sz="2400" dirty="0"/>
              <a:t>Build Subscriber Base, Increase Engagement, Promote Products, Improve Conversions &amp; Maximize ROI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1. Subscriber List Creation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Created audience list in Mailchimp. Segmented subscribers based on interests and demographics.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2. Email Campaign Setup </a:t>
            </a:r>
          </a:p>
          <a:p>
            <a:pPr algn="just"/>
            <a:r>
              <a:rPr lang="en-US" sz="2400" dirty="0"/>
              <a:t>Selected regular email campaign and defined campaign name, audience, and subject line with strong CTA.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3. Email Designing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Designed responsive email using drag-and-drop builder. Added logo, banner image, product details, and clear Call-to-Action buttons.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4. Test Email &amp; Optimization </a:t>
            </a:r>
          </a:p>
          <a:p>
            <a:pPr algn="just"/>
            <a:r>
              <a:rPr lang="en-US" sz="2400" dirty="0"/>
              <a:t>Sent test emails to check layout, links, subject line, and mobile responsiveness.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5. Final Publication &amp; Performance Tracking</a:t>
            </a:r>
          </a:p>
          <a:p>
            <a:pPr algn="just"/>
            <a:r>
              <a:rPr lang="en-US" sz="2400" dirty="0"/>
              <a:t> Scheduled and sent final campaign. Monitored open rate, click-through rate (CTR), and conversions.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6613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F50BB-F3E6-4A8C-AB3B-E468E762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941DFF-10CD-BF67-88E5-F83CC0F5D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7469DB-4799-E502-66D1-DF5176BA4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"/>
            <a:ext cx="12725400" cy="977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1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4F0CF">
                <a:alpha val="100000"/>
              </a:srgbClr>
            </a:gs>
            <a:gs pos="100000">
              <a:srgbClr val="FADCF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4DF4F-DDF8-5073-7C73-A06F50C82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38300"/>
            <a:ext cx="16992091" cy="800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560F6-1B7C-1A03-2B85-0450C182F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82E1F6-CA22-5520-A718-3369AE72CDF7}"/>
              </a:ext>
            </a:extLst>
          </p:cNvPr>
          <p:cNvSpPr txBox="1"/>
          <p:nvPr/>
        </p:nvSpPr>
        <p:spPr>
          <a:xfrm>
            <a:off x="4724400" y="571500"/>
            <a:ext cx="8077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Mailchimp Account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9D79-D1CE-F841-58DE-BD9192E9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500F6-95DC-60D8-DED1-96C5E32D2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ADBF42-73C1-C7E8-44AD-4308A0423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5B7523-7D78-805C-DDA5-775810C883C7}"/>
              </a:ext>
            </a:extLst>
          </p:cNvPr>
          <p:cNvSpPr txBox="1"/>
          <p:nvPr/>
        </p:nvSpPr>
        <p:spPr>
          <a:xfrm>
            <a:off x="4724400" y="571500"/>
            <a:ext cx="960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Email Campaign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343E8A-F559-94C2-22BB-711D1477F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38300"/>
            <a:ext cx="16383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6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94BF-EFDD-7F4E-179A-B844861C5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DE94F7-25A5-65BF-314E-4DB1DC1F5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CF3657-3095-0816-CAB0-D9C20FF5E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67F5B8-E40D-9DD5-414B-C2195813061A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Email Design Method Selection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BB486B-8242-3C00-B03D-C76338762A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562100"/>
            <a:ext cx="14935200" cy="793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0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F0FE-8C76-B983-3AAD-8BAF22287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B572A2-2E7E-EF37-0E88-3F21DF832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5A81A6-CD8A-A642-FF59-E912AB236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6B1117-1EAC-CFE7-33C1-B64ABD59F45E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Email Template Selection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39A325-6BE5-1151-2032-57F59CB1A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4"/>
          <a:stretch>
            <a:fillRect/>
          </a:stretch>
        </p:blipFill>
        <p:spPr>
          <a:xfrm>
            <a:off x="1295400" y="1651818"/>
            <a:ext cx="15584662" cy="810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3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F584-5C43-819B-C752-C0C5E4040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77B67-28F1-BE3F-7853-B022282B1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B04C1A-48DC-F8EF-EF74-0C0D82D03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888DDE-EFD5-036B-B302-82A7A4809CF4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Email Design &amp; Customization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02A032-ACDB-01FD-C214-7BB437101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304" y="1943100"/>
            <a:ext cx="7486896" cy="7391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191A25-51D0-8C56-ABF4-4B003351C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1943100"/>
            <a:ext cx="7488000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8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0944-7043-F483-6EA6-D77F4A52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0802B4-624C-16EB-F280-A097918B4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F2D675-A4CD-DCAC-477F-DFBB66380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750FD9-E726-2C15-C645-3A99C3D29319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Contact Import Method selection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2C6AC2-DE3F-AE20-3C26-D60AD30DC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638300"/>
            <a:ext cx="15877580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73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CA49-DB4D-5521-AAE6-4B4AB0B6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2C418-DAC3-F2ED-8554-79973F5D6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C45B44-353C-F402-9C55-0B147ECD2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421186-BC33-3599-58CB-88D387406630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Copy &amp; Paste Your Contacts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FD945-E049-3BB6-3009-7AD7B69C48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33"/>
          <a:stretch>
            <a:fillRect/>
          </a:stretch>
        </p:blipFill>
        <p:spPr>
          <a:xfrm>
            <a:off x="533400" y="1866900"/>
            <a:ext cx="17142972" cy="780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3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13AD-F209-87C9-54E6-2ED64B69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EF19B-A229-A2C5-DEB8-FDA3B711F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CEA761-6A2F-C124-8BA3-8A0F98D2A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AEF775-B48F-6A71-5828-A200DA7D3B74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Organize Your Contacts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E02AA3-6781-DDA9-C7CE-4BC875189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562100"/>
            <a:ext cx="15163800" cy="82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42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E6B63-201D-9B6B-DC5A-0D3DDF6B0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A728CA-D302-32EF-1B05-EC16779F7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4013F7-6B83-C009-1662-35C9F2B6F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9D7F34-4B63-4608-668A-4396A9E1685E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Tag Your Contacts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00507-35A1-7026-B81D-FEABD9EA0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409700"/>
            <a:ext cx="16535400" cy="840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00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A2E68-F3D5-A754-D46C-FB122F27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66400-AD33-A5EB-2973-8EA86B21A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10682C-087E-468C-46DD-B7912553E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311356-B882-A7E7-579B-C2C3B1F6C373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Contact Imported Successfully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7C3651-90B9-346C-7DAF-FFB84CA42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1562100"/>
            <a:ext cx="16008865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10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0C4E-0821-804A-283E-0E1D47C3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74FD1-FD48-C351-8815-E8DAA4860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BB9955-8D3B-961D-5BD7-DBD05FB59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9A5E7B-0D3A-3491-905F-65C32C09C51C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Imported Completion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B30204-B2F0-2CBE-5D7D-A6A76A40B4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576" t="14670" r="7875" b="8786"/>
          <a:stretch>
            <a:fillRect/>
          </a:stretch>
        </p:blipFill>
        <p:spPr>
          <a:xfrm>
            <a:off x="9220201" y="2550430"/>
            <a:ext cx="8763000" cy="57295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064958-5EB9-FA47-393F-1478CEA7E1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196" t="10896" b="9579"/>
          <a:stretch>
            <a:fillRect/>
          </a:stretch>
        </p:blipFill>
        <p:spPr>
          <a:xfrm>
            <a:off x="304800" y="2552700"/>
            <a:ext cx="873663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25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9F7B-75BE-E385-44AB-FFB4C7F4F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1D202-D39C-F4D9-4AE1-326EF1FC8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5F858D-EDE2-185A-BD8A-7E05DD967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419100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22EA08-294C-A9D6-D4CB-84FB5E377094}"/>
              </a:ext>
            </a:extLst>
          </p:cNvPr>
          <p:cNvSpPr txBox="1"/>
          <p:nvPr/>
        </p:nvSpPr>
        <p:spPr>
          <a:xfrm>
            <a:off x="4572000" y="7239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Imported Confirmation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D145B-60DB-3C0C-2242-FA9245C1A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247900"/>
            <a:ext cx="145542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80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E99BA-FDAE-7940-23AC-FACEEA1D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6C56C-C9B5-66B2-43DC-75583191E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BAD869-8D3A-8864-A7A7-D80955D34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EAEFE8-C5F4-91E6-8FAF-4F279B3E4B7E}"/>
              </a:ext>
            </a:extLst>
          </p:cNvPr>
          <p:cNvSpPr txBox="1"/>
          <p:nvPr/>
        </p:nvSpPr>
        <p:spPr>
          <a:xfrm>
            <a:off x="3657600" y="5715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Imported Confirmation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AEBEA-78BE-4E87-E07A-F32CA307C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E35F61-336C-787E-3B6B-6D55D0D1DCAD}"/>
              </a:ext>
            </a:extLst>
          </p:cNvPr>
          <p:cNvSpPr txBox="1"/>
          <p:nvPr/>
        </p:nvSpPr>
        <p:spPr>
          <a:xfrm>
            <a:off x="3810000" y="723900"/>
            <a:ext cx="99088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Campaign Preview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794501-92CB-DBB9-FB24-A1BCC7627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176" y="483649"/>
            <a:ext cx="934064" cy="934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103093-3546-6B1E-CD41-5811C738D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14500"/>
            <a:ext cx="16535400" cy="774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61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7F65F-69B2-97A1-2767-27C79202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BE83F-A29F-C320-C8EB-DEE6D4935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AA69A4-83CD-2C78-B630-78E555B7D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C32402-9573-7E6B-5BAE-B610A717F615}"/>
              </a:ext>
            </a:extLst>
          </p:cNvPr>
          <p:cNvSpPr txBox="1"/>
          <p:nvPr/>
        </p:nvSpPr>
        <p:spPr>
          <a:xfrm>
            <a:off x="3505200" y="571500"/>
            <a:ext cx="10668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Campaign Successfully Launched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D942CB-0B96-1B65-B85A-DE877B42C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66900"/>
            <a:ext cx="15868135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68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368D-0613-35F9-87C8-CA67DC3C7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08058-0D32-7474-757D-77B872219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2FA293-A614-1427-EDD7-380AAC5F5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776" y="331249"/>
            <a:ext cx="934064" cy="934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6A0E6E-DAF1-6B3E-4BF4-79CAF649D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429000"/>
            <a:ext cx="6248400" cy="3695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2A85F5-10C4-CE76-EE15-D7F8D9C52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1" y="3429000"/>
            <a:ext cx="7086600" cy="49407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BA98DD-2BEF-32E7-92CA-0A4E68E86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0" y="3440061"/>
            <a:ext cx="4275190" cy="4770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C1C488-AFC8-E9E6-B04E-ED07480AC4BD}"/>
              </a:ext>
            </a:extLst>
          </p:cNvPr>
          <p:cNvSpPr txBox="1"/>
          <p:nvPr/>
        </p:nvSpPr>
        <p:spPr>
          <a:xfrm>
            <a:off x="3733800" y="1714500"/>
            <a:ext cx="10668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>
                <a:solidFill>
                  <a:srgbClr val="70250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IN" sz="4200" dirty="0">
                <a:solidFill>
                  <a:schemeClr val="tx2">
                    <a:lumMod val="75000"/>
                  </a:schemeClr>
                </a:solidFill>
              </a:rPr>
              <a:t>Test Email</a:t>
            </a:r>
          </a:p>
        </p:txBody>
      </p:sp>
    </p:spTree>
    <p:extLst>
      <p:ext uri="{BB962C8B-B14F-4D97-AF65-F5344CB8AC3E}">
        <p14:creationId xmlns:p14="http://schemas.microsoft.com/office/powerpoint/2010/main" val="2743717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D46B1-67C2-727C-68FD-13767426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873A8-806E-064C-2FA2-D7821443F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1C84C1-43AE-A578-DE10-2F832AF947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411328"/>
            <a:ext cx="10230328" cy="723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57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408</Words>
  <Application>Microsoft Office PowerPoint</Application>
  <PresentationFormat>Custom</PresentationFormat>
  <Paragraphs>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Arial Black</vt:lpstr>
      <vt:lpstr>Canva Sans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</dc:title>
  <cp:lastModifiedBy>Meenakshi Mali</cp:lastModifiedBy>
  <cp:revision>10</cp:revision>
  <dcterms:created xsi:type="dcterms:W3CDTF">2006-08-16T00:00:00Z</dcterms:created>
  <dcterms:modified xsi:type="dcterms:W3CDTF">2026-09-12T05:16:05Z</dcterms:modified>
  <dc:identifier>DAHU0vpBX8Y</dc:identifier>
</cp:coreProperties>
</file>